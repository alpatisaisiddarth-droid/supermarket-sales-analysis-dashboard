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abstract_background_scene_for_a_temp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1325880"/>
            <a:ext cx="10835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DCE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12523D"/>
                </a:solidFill>
              </a:defRPr>
            </a:pPr>
            <a:r>
              <a:t>SUPERMARKET SALES</a:t>
            </a:r>
            <a:br/>
            <a:r>
              <a:t>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4612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A645F"/>
                </a:solidFill>
              </a:defRPr>
            </a:pPr>
            <a:r>
              <a:t>Excel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77639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72D26"/>
                </a:solidFill>
              </a:defRPr>
            </a:pPr>
            <a:r>
              <a:t>ALPATI SAI SIDDARTHA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617720"/>
            <a:ext cx="8503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2523D"/>
                </a:solidFill>
              </a:defRPr>
            </a:pPr>
            <a:r>
              <a:t>2026 • SALES • PROFIT • CUSTOMERS • BRANCHES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523D"/>
                </a:solidFill>
              </a:defRPr>
            </a:pPr>
            <a: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5F"/>
                </a:solidFill>
              </a:defRPr>
            </a:pPr>
            <a:r>
              <a:t>Turning transaction data into actionable supermarket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Supermarket transactions contain valuable information about sales, profitability, products, customers and branches.</a:t>
            </a:r>
          </a:p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Without structured analysis, it is difficult to identify high-performing categories, profitable branches and sales trends.</a:t>
            </a:r>
          </a:p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The project builds an interactive Excel dashboard to support faster, data-driven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523D"/>
                </a:solidFill>
              </a:defRPr>
            </a:pPr>
            <a:r>
              <a:t>2.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Sales Performance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Track revenue across time, branches and product 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1732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Evaluate COGS, gross income and margin.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Customer Insights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Compare member vs normal customers and ratings.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65760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Operational View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Analyze payment methods, quantity and branch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523D"/>
                </a:solidFill>
              </a:defRPr>
            </a:pPr>
            <a:r>
              <a:t>3. 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Raw Records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501</a:t>
            </a:r>
          </a:p>
          <a:p>
            <a:pPr>
              <a:defRPr sz="900">
                <a:solidFill>
                  <a:srgbClr val="5A645F"/>
                </a:solidFill>
              </a:defRPr>
            </a:pPr>
            <a:r>
              <a:t>500 transactions + 1 intentional duplicate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4173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Columns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17</a:t>
            </a:r>
          </a:p>
          <a:p>
            <a:pPr>
              <a:defRPr sz="900">
                <a:solidFill>
                  <a:srgbClr val="5A645F"/>
                </a:solidFill>
              </a:defRPr>
            </a:pPr>
            <a:r>
              <a:t>Transaction, product, customer &amp; finance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173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Branches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5</a:t>
            </a:r>
          </a:p>
          <a:p>
            <a:pPr>
              <a:defRPr sz="900">
                <a:solidFill>
                  <a:srgbClr val="5A645F"/>
                </a:solidFill>
              </a:defRPr>
            </a:pPr>
            <a:r>
              <a:t>Multiple store locations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4173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Product Lines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8</a:t>
            </a:r>
          </a:p>
          <a:p>
            <a:pPr>
              <a:defRPr sz="900">
                <a:solidFill>
                  <a:srgbClr val="5A645F"/>
                </a:solidFill>
              </a:defRPr>
            </a:pPr>
            <a:r>
              <a:t>Major supermarket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D26"/>
                </a:solidFill>
              </a:defRPr>
            </a:pPr>
            <a:r>
              <a:t>Core fields: Invoice_ID, Date, Time, Branch, City, Customer_Type, Gender, Product_Line.</a:t>
            </a:r>
          </a:p>
          <a:p>
            <a:pPr>
              <a:spcAft>
                <a:spcPts val="1000"/>
              </a:spcAft>
              <a:defRPr sz="1600">
                <a:solidFill>
                  <a:srgbClr val="172D26"/>
                </a:solidFill>
              </a:defRPr>
            </a:pPr>
            <a:r>
              <a:t>Financial fields: Unit_Price, Quantity, Tax, Total_Sales, COGS, Gross_Income, Gross_Margin_%.</a:t>
            </a:r>
          </a:p>
          <a:p>
            <a:pPr>
              <a:spcAft>
                <a:spcPts val="1000"/>
              </a:spcAft>
              <a:defRPr sz="1600">
                <a:solidFill>
                  <a:srgbClr val="172D26"/>
                </a:solidFill>
              </a:defRPr>
            </a:pPr>
            <a:r>
              <a:t>Other fields: Payment and Rating.</a:t>
            </a:r>
          </a:p>
          <a:p>
            <a:pPr>
              <a:spcAft>
                <a:spcPts val="1000"/>
              </a:spcAft>
              <a:defRPr sz="1600">
                <a:solidFill>
                  <a:srgbClr val="172D26"/>
                </a:solidFill>
              </a:defRPr>
            </a:pPr>
            <a:r>
              <a:t>The raw file includes intentional quality issues for demonstrating cleaning and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523D"/>
                </a:solidFill>
              </a:defRPr>
            </a:pPr>
            <a:r>
              <a:t>4. Data Cleaning &amp;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D26"/>
                </a:solidFill>
              </a:defRPr>
            </a:pPr>
            <a:r>
              <a:t>Preserve the raw dataset and create a separate Clean_Data layer.</a:t>
            </a:r>
          </a:p>
          <a:p>
            <a:pPr>
              <a:spcAft>
                <a:spcPts val="1000"/>
              </a:spcAft>
              <a:defRPr sz="1600">
                <a:solidFill>
                  <a:srgbClr val="172D26"/>
                </a:solidFill>
              </a:defRPr>
            </a:pPr>
            <a:r>
              <a:t>Convert the data into an Excel Table for structured filtering, formulas and PivotTables.</a:t>
            </a:r>
          </a:p>
          <a:p>
            <a:pPr>
              <a:spcAft>
                <a:spcPts val="1000"/>
              </a:spcAft>
              <a:defRPr sz="1600">
                <a:solidFill>
                  <a:srgbClr val="172D26"/>
                </a:solidFill>
              </a:defRPr>
            </a:pPr>
            <a:r>
              <a:t>Identify duplicates and missing values; investigate critical missing Unit_Price and Quantity values.</a:t>
            </a:r>
          </a:p>
          <a:p>
            <a:pPr>
              <a:spcAft>
                <a:spcPts val="1000"/>
              </a:spcAft>
              <a:defRPr sz="1600">
                <a:solidFill>
                  <a:srgbClr val="172D26"/>
                </a:solidFill>
              </a:defRPr>
            </a:pPr>
            <a:r>
              <a:t>Standardize text such as Member/member and UPI/upi; remove unnecessary spaces.</a:t>
            </a:r>
          </a:p>
          <a:p>
            <a:pPr>
              <a:spcAft>
                <a:spcPts val="1000"/>
              </a:spcAft>
              <a:defRPr sz="1600">
                <a:solidFill>
                  <a:srgbClr val="172D26"/>
                </a:solidFill>
              </a:defRPr>
            </a:pPr>
            <a:r>
              <a:t>Validate Date and Time formats and numeric fields.</a:t>
            </a:r>
          </a:p>
          <a:p>
            <a:pPr>
              <a:spcAft>
                <a:spcPts val="1000"/>
              </a:spcAft>
              <a:defRPr sz="1600">
                <a:solidFill>
                  <a:srgbClr val="172D26"/>
                </a:solidFill>
              </a:defRPr>
            </a:pPr>
            <a:r>
              <a:t>Create analytical fields such as Month, Month Number, Profit and Profit Margin.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523D"/>
                </a:solidFill>
              </a:defRPr>
            </a:pPr>
            <a:r>
              <a:t>5. Data Validation / Quality Checks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Duplicate Check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Invoice_ID uniqueness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Missing Values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Blanks in critical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3716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Sales Check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Unit Price × Quantity + Tax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Profit Check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Total Sales − COGS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Margin Check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Gross Income ÷ Total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Range Check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Quantity, price &amp; rating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523D"/>
                </a:solidFill>
              </a:defRPr>
            </a:pPr>
            <a:r>
              <a:t>6. Data Analysis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Which month generates the highest sales?</a:t>
            </a:r>
          </a:p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Which branch contributes the most revenue and profit?</a:t>
            </a:r>
          </a:p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Which product line performs best?</a:t>
            </a:r>
          </a:p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Which customer type contributes more sales?</a:t>
            </a:r>
          </a:p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Which payment method is most frequently used?</a:t>
            </a:r>
          </a:p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Where are the strongest and weakest business opportunities?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523D"/>
                </a:solidFill>
              </a:defRPr>
            </a:pPr>
            <a:r>
              <a:t>7. PivotTables &amp; KPI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743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PivotTables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Sales by Month</a:t>
            </a:r>
          </a:p>
          <a:p>
            <a:pPr>
              <a:defRPr sz="900">
                <a:solidFill>
                  <a:srgbClr val="5A645F"/>
                </a:solidFill>
              </a:defRPr>
            </a:pPr>
            <a:r>
              <a:t>Branch • Product • Customer • Payment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371600"/>
            <a:ext cx="2743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Primary KPI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Total Sales</a:t>
            </a:r>
          </a:p>
          <a:p>
            <a:pPr>
              <a:defRPr sz="900">
                <a:solidFill>
                  <a:srgbClr val="5A645F"/>
                </a:solidFill>
              </a:defRPr>
            </a:pPr>
            <a:r>
              <a:t>Revenue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2286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Profit KPI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Gross Income</a:t>
            </a:r>
          </a:p>
          <a:p>
            <a:pPr>
              <a:defRPr sz="900">
                <a:solidFill>
                  <a:srgbClr val="5A645F"/>
                </a:solidFill>
              </a:defRPr>
            </a:pPr>
            <a:r>
              <a:t>Profitability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371600"/>
            <a:ext cx="2286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Efficiency KPI</a:t>
            </a:r>
          </a:p>
          <a:p>
            <a:pPr>
              <a:defRPr sz="2200" b="1">
                <a:solidFill>
                  <a:srgbClr val="172D26"/>
                </a:solidFill>
              </a:defRPr>
            </a:pPr>
            <a:r>
              <a:t>Margin %</a:t>
            </a:r>
          </a:p>
          <a:p>
            <a:pPr>
              <a:defRPr sz="900">
                <a:solidFill>
                  <a:srgbClr val="5A645F"/>
                </a:solidFill>
              </a:defRPr>
            </a:pPr>
            <a:r>
              <a:t>Profit /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Recommended KPIs: Total Sales, Total Profit/Gross Income, Transactions, Quantity Sold, Average Transaction Value and Gross Margin %.</a:t>
            </a:r>
          </a:p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Use PivotTables as the analytical engine behind dashboard charts.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5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8. SUPERMARKET SALES PERFORMANCE DASHBOARD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11365992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65A50"/>
                </a:solidFill>
              </a:defRPr>
            </a:pPr>
            <a:r>
              <a:t>Interactive Excel Dashboard • Sales • Customers • Payments • Product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523D"/>
                </a:solidFill>
              </a:defRPr>
            </a:pPr>
            <a:r>
              <a:t>9. Key Insights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Use the dashboard to identify the strongest sales month and compare it with weaker periods.</a:t>
            </a:r>
          </a:p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Compare branch sales and profit together so high revenue does not hide weak margins.</a:t>
            </a:r>
          </a:p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Rank product lines by sales and gross income to distinguish demand from profitability.</a:t>
            </a:r>
          </a:p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Compare Member vs Normal customers and payment methods to guide engagement strategy.</a:t>
            </a:r>
          </a:p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Translate every major observation into a measurable business 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523D"/>
                </a:solidFill>
              </a:defRPr>
            </a:pPr>
            <a:r>
              <a:t>10. 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Prioritize inventory and promotions for high-demand, high-margin product lines.</a:t>
            </a:r>
          </a:p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Investigate lower-performing branches for assortment, pricing, availability and customer-demand differences.</a:t>
            </a:r>
          </a:p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Use monthly sales patterns for inventory and staffing planning.</a:t>
            </a:r>
          </a:p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Strengthen loyalty offers for valuable customer segments.</a:t>
            </a:r>
          </a:p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Monitor gross margin alongside sales to protect profitability.</a:t>
            </a:r>
          </a:p>
          <a:p>
            <a:pPr>
              <a:spcAft>
                <a:spcPts val="1000"/>
              </a:spcAft>
              <a:defRPr sz="1700">
                <a:solidFill>
                  <a:srgbClr val="172D26"/>
                </a:solidFill>
              </a:defRPr>
            </a:pPr>
            <a:r>
              <a:t>Refresh the dashboard regularly as new transactions become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523D"/>
                </a:solidFill>
              </a:defRPr>
            </a:pPr>
            <a:r>
              <a:t>11. Project Flow</a:t>
            </a:r>
          </a:p>
        </p:txBody>
      </p:sp>
      <p:pic>
        <p:nvPicPr>
          <p:cNvPr id="4" name="Picture 3" descr="a_clean_infographic_diagram_on_a_white_light_bac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270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523D"/>
                </a:solidFill>
              </a:defRPr>
            </a:pPr>
            <a:r>
              <a:t>12.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The project transforms raw supermarket transactions into a structured analytical solution.</a:t>
            </a:r>
          </a:p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Excel is used for cleaning, transformation, validation, PivotTables, KPI calculations and interactive visualization.</a:t>
            </a:r>
          </a:p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The final dashboard provides a single view of sales, profitability, customers, products and branches.</a:t>
            </a:r>
          </a:p>
          <a:p>
            <a:pPr>
              <a:spcAft>
                <a:spcPts val="1000"/>
              </a:spcAft>
              <a:defRPr sz="1800">
                <a:solidFill>
                  <a:srgbClr val="172D26"/>
                </a:solidFill>
              </a:defRPr>
            </a:pPr>
            <a:r>
              <a:t>The end goal is not only reporting numbers—it is enabling better business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523D"/>
                </a:solidFill>
              </a:defRPr>
            </a:pPr>
            <a:r>
              <a:t>ALPATI SAI SIDDARTHA  •  SUPERMARKET SALES PERFORMANCE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